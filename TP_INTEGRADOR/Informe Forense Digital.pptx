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Merriweather"/>
      <p:regular r:id="rId18"/>
      <p:bold r:id="rId19"/>
      <p:italic r:id="rId20"/>
      <p:boldItalic r:id="rId21"/>
    </p:embeddedFont>
    <p:embeddedFont>
      <p:font typeface="DM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italic.fntdata"/><Relationship Id="rId22" Type="http://schemas.openxmlformats.org/officeDocument/2006/relationships/font" Target="fonts/DMSans-regular.fntdata"/><Relationship Id="rId21" Type="http://schemas.openxmlformats.org/officeDocument/2006/relationships/font" Target="fonts/Merriweather-boldItalic.fntdata"/><Relationship Id="rId24" Type="http://schemas.openxmlformats.org/officeDocument/2006/relationships/font" Target="fonts/DMSans-italic.fntdata"/><Relationship Id="rId23" Type="http://schemas.openxmlformats.org/officeDocument/2006/relationships/font" Target="fonts/DM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DM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erriweather-bold.fntdata"/><Relationship Id="rId18" Type="http://schemas.openxmlformats.org/officeDocument/2006/relationships/font" Target="fonts/Merriweath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27.png"/><Relationship Id="rId5" Type="http://schemas.openxmlformats.org/officeDocument/2006/relationships/image" Target="../media/image19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Relationship Id="rId4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4.png"/><Relationship Id="rId4" Type="http://schemas.openxmlformats.org/officeDocument/2006/relationships/image" Target="../media/image33.png"/><Relationship Id="rId5" Type="http://schemas.openxmlformats.org/officeDocument/2006/relationships/image" Target="../media/image32.png"/><Relationship Id="rId6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756344"/>
            <a:ext cx="11239500" cy="534531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95337" y="1327844"/>
            <a:ext cx="10601325" cy="1733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Informe Final: Análisis Forense Digital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047750" y="3251894"/>
            <a:ext cx="100965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CASO: INCIDENTE DE SEGURIDAD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047750" y="3821459"/>
            <a:ext cx="100965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Robo de Criptoactivos y Acceso Remoto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5619750" y="4472880"/>
            <a:ext cx="9525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047750" y="4777680"/>
            <a:ext cx="10096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Equipo: La Bolsita Forense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(Lautaro Moller, Tomas Moltrasio, Joaquina Nogueira)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1828800"/>
            <a:ext cx="5429250" cy="455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1828800"/>
            <a:ext cx="5429250" cy="45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476250" y="476250"/>
            <a:ext cx="117157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Contexto y Alcance del Incidente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476250" y="1238250"/>
            <a:ext cx="112395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809625" y="2141636"/>
            <a:ext cx="505063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El Incidente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09625" y="2875061"/>
            <a:ext cx="48101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Empresa: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"La Más Mejor S.A."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09625" y="3562647"/>
            <a:ext cx="48101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Víctima Inicial: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Gerente Financiero (Usuario: Vagrant).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09625" y="4585394"/>
            <a:ext cx="481012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Síntomas Reportados: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Movimiento autónomo del cursor, ejecución no autorizada de programas y desaparición repentina de fondos en criptomonedas.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619875" y="2317849"/>
            <a:ext cx="505063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Expansión del Alcance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619875" y="3051274"/>
            <a:ext cx="48101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La investigación inicial en la estación de trabajo reveló evidencias críticas de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movimiento lateral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619875" y="4409182"/>
            <a:ext cx="481012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El foco del análisis forense se expandió inmediatamente para incluir el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Servidor de Recursos Humanos (Ubuntu)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 la infraestructura interna.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" y="2170211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9875" y="2346424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3471862"/>
            <a:ext cx="3555950" cy="28116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7950" y="3471862"/>
            <a:ext cx="3555950" cy="28116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9650" y="3471862"/>
            <a:ext cx="3555950" cy="281166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476250" y="476250"/>
            <a:ext cx="1171575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Integridad de la Evidencia (Cadena de Custodia)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476250" y="1857375"/>
            <a:ext cx="112395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476250" y="2755701"/>
            <a:ext cx="11239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 analizaron tres artefactos principales, verificados mediante hashing SHA256: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124009" y="4500562"/>
            <a:ext cx="226028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Disco Windows 10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039713" y="5129212"/>
            <a:ext cx="2428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cfo-win10 Clone-disk1.vmdk.gz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287363" y="5641627"/>
            <a:ext cx="19335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Hash: b9d2b3f4...25ba7b898822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170735" y="4500562"/>
            <a:ext cx="185023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Memoria RAM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4881413" y="5129212"/>
            <a:ext cx="2428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memoria241125vagrant.dmp.gz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5062388" y="5641627"/>
            <a:ext cx="20669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Hash: e8397b0e...0a0e31885d5e52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602384" y="4500562"/>
            <a:ext cx="267033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Disco Servidor RRHH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956476" y="5129212"/>
            <a:ext cx="19621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rrhh Clone-disk1.vmdk.gz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970764" y="5641627"/>
            <a:ext cx="19335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Hash: 40c7d3fe...939ddd792fc9</a:t>
            </a:r>
            <a:endParaRPr/>
          </a:p>
        </p:txBody>
      </p:sp>
      <p:pic>
        <p:nvPicPr>
          <p:cNvPr descr="image.png" id="127" name="Google Shape;12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44600" y="3776662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29151" y="3776662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70851" y="3776662"/>
            <a:ext cx="53340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2350" y="2200275"/>
            <a:ext cx="43434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4784377"/>
            <a:ext cx="6515100" cy="110862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476250" y="476250"/>
            <a:ext cx="117157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Análisis de Memoria RAM (Volatility 3)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476250" y="1238250"/>
            <a:ext cx="112395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476250" y="2317402"/>
            <a:ext cx="684085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29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Hallazgos en Tiempo Real</a:t>
            </a:r>
            <a:endParaRPr/>
          </a:p>
        </p:txBody>
      </p:sp>
      <p:pic>
        <p:nvPicPr>
          <p:cNvPr descr="image.png" id="139" name="Google Shape;13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72350" y="2200275"/>
            <a:ext cx="43434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2345977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790575" y="285080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57250" y="2850802"/>
            <a:ext cx="61341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Acceso Remoto Confirmado: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Se detectó el proceso TeamViewer_Service.exe (PID 3196). Esto corrobora el reporte del usuario sobre el control externo del mouse.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790575" y="396522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857250" y="3965227"/>
            <a:ext cx="61341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La "Simulación" del Robo: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Se identificó el proceso electrum-4.6.2.exe (PID 7100) ejecutándose con el argumento --testnet.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57225" y="4927252"/>
            <a:ext cx="61912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Conclusión: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El atacante usó una "red de pruebas" con dinero ficticio para causar pánico visual en la víctima, mientras ejecutaba el robo real en segundo plano.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/>
          <p:nvPr/>
        </p:nvSpPr>
        <p:spPr>
          <a:xfrm>
            <a:off x="571500" y="571500"/>
            <a:ext cx="500062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Vector de Acceso Inicial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571500" y="2143125"/>
            <a:ext cx="50006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97706"/>
                </a:solidFill>
                <a:latin typeface="Merriweather"/>
                <a:ea typeface="Merriweather"/>
                <a:cs typeface="Merriweather"/>
                <a:sym typeface="Merriweather"/>
              </a:rPr>
              <a:t>Ingeniería Social (Phishing)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571500" y="2876550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El análisis de correos (Thunderbird) expuso el engaño.</a:t>
            </a:r>
            <a:endParaRPr/>
          </a:p>
        </p:txBody>
      </p:sp>
      <p:pic>
        <p:nvPicPr>
          <p:cNvPr descr="image.png" id="153" name="Google Shape;1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6642496"/>
            <a:ext cx="4762500" cy="5256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0"/>
            <a:ext cx="5905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885825" y="3880246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952500" y="3880246"/>
            <a:ext cx="4381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Atacante: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"Carlos Méndez" (carlos.mendez@bydargentina-com.biz).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85825" y="4585096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952500" y="4585096"/>
            <a:ext cx="4381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Pretexto: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Fallo en transferencia para la compra de un vehículo "BYD Dolphin".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885825" y="5289946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952500" y="5289946"/>
            <a:ext cx="4381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Compromiso: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La víctima (Vagrant) envió voluntariamente sus credenciales de TeamViewer el 24/11 a las 11:05 AM.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1828800"/>
            <a:ext cx="5429250" cy="455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1828800"/>
            <a:ext cx="5429250" cy="45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476250" y="476250"/>
            <a:ext cx="117157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Ejecución de Malware y Persistencia</a:t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476250" y="1238250"/>
            <a:ext cx="112395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809625" y="2643485"/>
            <a:ext cx="505063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Script Malicioso (list.ps1)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809625" y="3376910"/>
            <a:ext cx="4810125" cy="679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Localizado en Descargas. Diseñado para buscar frases semilla (seed.txt).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809625" y="4409182"/>
            <a:ext cx="4810125" cy="1015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Robo Efectivo: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Encontró y exfiltró el archivo passwallet.txt desde la Papelera de Reciclaje hacia un servidor OwnCloud externo.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619875" y="2467272"/>
            <a:ext cx="505063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Mecanismo de Persistencia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6619875" y="3200697"/>
            <a:ext cx="48101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El atacante aseguró su acceso futuro creando una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Tarea Programada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6619875" y="4223444"/>
            <a:ext cx="4810125" cy="344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Nombre: WindowsUpdateCheck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6619875" y="4920555"/>
            <a:ext cx="4810125" cy="679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Acción: Ejecuta update_checker.ps1 cada hora, camuflado como una actualización del sistema.</a:t>
            </a:r>
            <a:endParaRPr/>
          </a:p>
        </p:txBody>
      </p:sp>
      <p:pic>
        <p:nvPicPr>
          <p:cNvPr descr="image.png" id="176" name="Google Shape;17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" y="2672060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9875" y="2495847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2350" y="2200275"/>
            <a:ext cx="43434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476250" y="476250"/>
            <a:ext cx="117157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Movimiento Lateral: Ataque a la Red Interna</a:t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476250" y="1238250"/>
            <a:ext cx="112395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476250" y="2425303"/>
            <a:ext cx="65151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Desde la estación de Vagrant, se lanzaron ataques contra la IP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192.168.56.20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(Servidor RRHH).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476250" y="3286125"/>
            <a:ext cx="684085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Técnica: Fuerza Bruta (Puerto 3000)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476250" y="3876675"/>
            <a:ext cx="6515100" cy="679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Los logs (bruteforce.log) muestran éxito masivo debido a una política de contraseñas deficiente:</a:t>
            </a:r>
            <a:endParaRPr/>
          </a:p>
        </p:txBody>
      </p:sp>
      <p:pic>
        <p:nvPicPr>
          <p:cNvPr descr="image.png" id="188" name="Google Shape;18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72350" y="2200275"/>
            <a:ext cx="43434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666750" y="4708921"/>
            <a:ext cx="63246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Usuario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admin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 messi19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66750" y="5118496"/>
            <a:ext cx="63246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Usuarios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pmartinez, rdiaz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 pass123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666750" y="5528071"/>
            <a:ext cx="63246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Usuario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vagrant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 123456789</a:t>
            </a:r>
            <a:endParaRPr/>
          </a:p>
        </p:txBody>
      </p:sp>
      <p:pic>
        <p:nvPicPr>
          <p:cNvPr descr="image.png" id="192" name="Google Shape;19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0525" y="4766071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0525" y="5175646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0525" y="5585221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918001"/>
            <a:ext cx="4762500" cy="77331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571500" y="571500"/>
            <a:ext cx="500062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Compromiso del Servidor RRHH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571500" y="2143125"/>
            <a:ext cx="50006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F4444"/>
                </a:solidFill>
                <a:latin typeface="Merriweather"/>
                <a:ea typeface="Merriweather"/>
                <a:cs typeface="Merriweather"/>
                <a:sym typeface="Merriweather"/>
              </a:rPr>
              <a:t>Manipulación de Integridad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571500" y="2876550"/>
            <a:ext cx="4762500" cy="1015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El análisis del archivo hr_database.db (SQLite) confirmó una alteración masiva de datos críticos.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571500" y="4243982"/>
            <a:ext cx="4762500" cy="14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Utilizando las credenciales robadas, el atacante reemplazó las direcciones legítimas de criptomonedas (Mainnet) por direcciones de prueba (Testnet).</a:t>
            </a:r>
            <a:endParaRPr/>
          </a:p>
        </p:txBody>
      </p:sp>
      <p:pic>
        <p:nvPicPr>
          <p:cNvPr descr="image.png" id="204" name="Google Shape;20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0"/>
            <a:ext cx="5905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714375" y="6060876"/>
            <a:ext cx="44767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4444"/>
                </a:solidFill>
                <a:latin typeface="DM Sans"/>
                <a:ea typeface="DM Sans"/>
                <a:cs typeface="DM Sans"/>
                <a:sym typeface="DM Sans"/>
              </a:rPr>
              <a:t>- bc1qxy2kg... (Legítima)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714375" y="6304657"/>
            <a:ext cx="44767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+ tb1qytjya... (Atacante)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"/>
          <p:cNvSpPr txBox="1"/>
          <p:nvPr/>
        </p:nvSpPr>
        <p:spPr>
          <a:xfrm>
            <a:off x="476250" y="476250"/>
            <a:ext cx="117157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Línea de Tiempo del Incidente</a:t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476250" y="1238250"/>
            <a:ext cx="112395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476250" y="3466207"/>
            <a:ext cx="112395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1503015" y="3275707"/>
            <a:ext cx="419100" cy="419100"/>
          </a:xfrm>
          <a:prstGeom prst="roundRect">
            <a:avLst>
              <a:gd fmla="val 50000" name="adj"/>
            </a:avLst>
          </a:prstGeom>
          <a:solidFill>
            <a:srgbClr val="005088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476250" y="3885307"/>
            <a:ext cx="247263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50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17/11/2025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414434" y="4152007"/>
            <a:ext cx="259626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Contacto Inicial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476250" y="4685407"/>
            <a:ext cx="247263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Correo de Phishing recibido ("Carlos Méndez").</a:t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4425255" y="3275707"/>
            <a:ext cx="419100" cy="419100"/>
          </a:xfrm>
          <a:prstGeom prst="roundRect">
            <a:avLst>
              <a:gd fmla="val 50000" name="adj"/>
            </a:avLst>
          </a:prstGeom>
          <a:solidFill>
            <a:srgbClr val="005088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3398490" y="3885307"/>
            <a:ext cx="247263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50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18/11/2025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3336674" y="4152007"/>
            <a:ext cx="259626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Preparación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3398490" y="4685407"/>
            <a:ext cx="247263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Instalación de TeamViewer en el equipo de Finanzas.</a:t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7347495" y="3275707"/>
            <a:ext cx="419100" cy="419100"/>
          </a:xfrm>
          <a:prstGeom prst="roundRect">
            <a:avLst>
              <a:gd fmla="val 50000" name="adj"/>
            </a:avLst>
          </a:prstGeom>
          <a:solidFill>
            <a:srgbClr val="005088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6320730" y="3885307"/>
            <a:ext cx="247263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50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24/11 - 11:05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6258914" y="4152007"/>
            <a:ext cx="259626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Acceso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6320730" y="4685407"/>
            <a:ext cx="247263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Víctima envía credenciales. Ejecución de Malware.</a:t>
            </a: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10269735" y="3275707"/>
            <a:ext cx="419100" cy="419100"/>
          </a:xfrm>
          <a:prstGeom prst="roundRect">
            <a:avLst>
              <a:gd fmla="val 50000" name="adj"/>
            </a:avLst>
          </a:prstGeom>
          <a:solidFill>
            <a:srgbClr val="005088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9242970" y="3885307"/>
            <a:ext cx="247263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50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24/11 - 15:50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9181154" y="4152007"/>
            <a:ext cx="259626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Impacto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9242970" y="4685407"/>
            <a:ext cx="247263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Fuerza Bruta exitosa y modificación de DB RRHH.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"/>
          <p:cNvSpPr txBox="1"/>
          <p:nvPr/>
        </p:nvSpPr>
        <p:spPr>
          <a:xfrm>
            <a:off x="476250" y="476250"/>
            <a:ext cx="117157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Conclusiones Clave</a:t>
            </a:r>
            <a:endParaRPr/>
          </a:p>
        </p:txBody>
      </p:sp>
      <p:sp>
        <p:nvSpPr>
          <p:cNvPr id="235" name="Google Shape;235;p22"/>
          <p:cNvSpPr/>
          <p:nvPr/>
        </p:nvSpPr>
        <p:spPr>
          <a:xfrm>
            <a:off x="476250" y="1238250"/>
            <a:ext cx="112395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857250" y="2242542"/>
            <a:ext cx="108585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Origen Humano: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El incidente no fue una falla técnica, sino un ataque de Ingeniería Social facilitado por la entrega voluntaria de credenciales.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857250" y="3212008"/>
            <a:ext cx="108585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Negligencia Operativa: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El robo de activos fue posible debido al almacenamiento de frases semilla en texto plano (passwallet.txt).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857250" y="4181475"/>
            <a:ext cx="108585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Seguridad Interna Deficiente: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El movimiento lateral fue trivial debido al uso de contraseñas débiles y predecibles en cuentas críticas de administración.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857250" y="5150941"/>
            <a:ext cx="108585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Estado Actual: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La red se considera hostil; el atacante posee credenciales válidas y persistencia configurada.</a:t>
            </a:r>
            <a:endParaRPr/>
          </a:p>
        </p:txBody>
      </p:sp>
      <p:pic>
        <p:nvPicPr>
          <p:cNvPr descr="image.png" id="240" name="Google Shape;24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228064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325010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421957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5189041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1828800"/>
            <a:ext cx="5429250" cy="455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828800"/>
            <a:ext cx="5429250" cy="45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 txBox="1"/>
          <p:nvPr/>
        </p:nvSpPr>
        <p:spPr>
          <a:xfrm>
            <a:off x="476250" y="476250"/>
            <a:ext cx="117157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Recomendaciones</a:t>
            </a:r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476250" y="1238250"/>
            <a:ext cx="112395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809625" y="2633662"/>
            <a:ext cx="505063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F4444"/>
                </a:solidFill>
                <a:latin typeface="Merriweather"/>
                <a:ea typeface="Merriweather"/>
                <a:cs typeface="Merriweather"/>
                <a:sym typeface="Merriweather"/>
              </a:rPr>
              <a:t>Inmediatas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6619875" y="2633662"/>
            <a:ext cx="505063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Prevención (Mediano Plazo)</a:t>
            </a:r>
            <a:endParaRPr/>
          </a:p>
        </p:txBody>
      </p:sp>
      <p:pic>
        <p:nvPicPr>
          <p:cNvPr descr="image.png" id="254" name="Google Shape;25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" y="266223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3"/>
          <p:cNvSpPr txBox="1"/>
          <p:nvPr/>
        </p:nvSpPr>
        <p:spPr>
          <a:xfrm>
            <a:off x="933450" y="33099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1000125" y="3309937"/>
            <a:ext cx="4619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Aislar la Red: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Desconectar equipos de Finanzas y RRHH.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933450" y="40147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1000125" y="4014787"/>
            <a:ext cx="4619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Rotación Total: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Cambiar todas las contraseñas de dominio y correos.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933450" y="47196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1000125" y="4719637"/>
            <a:ext cx="4619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Transferencia de Fondos: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Mover activos remanentes a billeteras seguras (Cold Storage).</a:t>
            </a:r>
            <a:endParaRPr/>
          </a:p>
        </p:txBody>
      </p:sp>
      <p:pic>
        <p:nvPicPr>
          <p:cNvPr descr="image.png" id="261" name="Google Shape;26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9875" y="266223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3"/>
          <p:cNvSpPr txBox="1"/>
          <p:nvPr/>
        </p:nvSpPr>
        <p:spPr>
          <a:xfrm>
            <a:off x="6743700" y="33099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6810375" y="3309937"/>
            <a:ext cx="4619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Implementar MFA: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Obligatorio para accesos remotos.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6743700" y="40147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6810375" y="4014787"/>
            <a:ext cx="4619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Políticas GPO: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Bloquear software remoto (AnyDesk, TeamViewer) sin autorización.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6743700" y="47196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6810375" y="4719637"/>
            <a:ext cx="4619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Capacitación: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Talleres de concientización sobre Phishing.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4"/>
          <p:cNvSpPr txBox="1"/>
          <p:nvPr/>
        </p:nvSpPr>
        <p:spPr>
          <a:xfrm>
            <a:off x="2298524" y="1726025"/>
            <a:ext cx="71079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750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Gracias por su atencion 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3387700" y="4108044"/>
            <a:ext cx="5658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3267075" y="4396680"/>
            <a:ext cx="56578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forensia@labolsita.com</a:t>
            </a:r>
            <a:endParaRPr/>
          </a:p>
        </p:txBody>
      </p:sp>
      <p:pic>
        <p:nvPicPr>
          <p:cNvPr descr="image.png" id="275" name="Google Shape;27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6977" y="4396680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